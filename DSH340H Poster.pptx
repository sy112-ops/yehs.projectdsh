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85"/>
    <p:restoredTop sz="94679"/>
  </p:normalViewPr>
  <p:slideViewPr>
    <p:cSldViewPr snapToGrid="0">
      <p:cViewPr>
        <p:scale>
          <a:sx n="29" d="100"/>
          <a:sy n="29" d="100"/>
        </p:scale>
        <p:origin x="216" y="-70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3FA9B3-E748-BF4A-875A-8EA57094D860}"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2097536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3FA9B3-E748-BF4A-875A-8EA57094D860}"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2157165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3FA9B3-E748-BF4A-875A-8EA57094D860}"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3201077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3FA9B3-E748-BF4A-875A-8EA57094D860}"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3565684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3FA9B3-E748-BF4A-875A-8EA57094D860}" type="datetimeFigureOut">
              <a:rPr lang="en-US" smtClean="0"/>
              <a:t>4/13/26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1412289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3FA9B3-E748-BF4A-875A-8EA57094D860}" type="datetimeFigureOut">
              <a:rPr lang="en-US" smtClean="0"/>
              <a:t>4/13/26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3032323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3FA9B3-E748-BF4A-875A-8EA57094D860}" type="datetimeFigureOut">
              <a:rPr lang="en-US" smtClean="0"/>
              <a:t>4/13/26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3077099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373FA9B3-E748-BF4A-875A-8EA57094D860}"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229015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373FA9B3-E748-BF4A-875A-8EA57094D860}"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1329361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3FA9B3-E748-BF4A-875A-8EA57094D860}"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546016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3FA9B3-E748-BF4A-875A-8EA57094D860}"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B4449-CB96-444C-8E24-4EA3D2D3063C}" type="slidenum">
              <a:rPr lang="en-US" smtClean="0"/>
              <a:t>‹#›</a:t>
            </a:fld>
            <a:endParaRPr lang="en-US"/>
          </a:p>
        </p:txBody>
      </p:sp>
    </p:spTree>
    <p:extLst>
      <p:ext uri="{BB962C8B-B14F-4D97-AF65-F5344CB8AC3E}">
        <p14:creationId xmlns:p14="http://schemas.microsoft.com/office/powerpoint/2010/main" val="3897423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373FA9B3-E748-BF4A-875A-8EA57094D860}" type="datetimeFigureOut">
              <a:rPr lang="en-US" smtClean="0"/>
              <a:t>4/13/26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0C8B4449-CB96-444C-8E24-4EA3D2D3063C}" type="slidenum">
              <a:rPr lang="en-US" smtClean="0"/>
              <a:t>‹#›</a:t>
            </a:fld>
            <a:endParaRPr lang="en-US"/>
          </a:p>
        </p:txBody>
      </p:sp>
    </p:spTree>
    <p:extLst>
      <p:ext uri="{BB962C8B-B14F-4D97-AF65-F5344CB8AC3E}">
        <p14:creationId xmlns:p14="http://schemas.microsoft.com/office/powerpoint/2010/main" val="27653382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D459F5-BAAE-C01A-9CC7-D98D04DA0D9F}"/>
              </a:ext>
            </a:extLst>
          </p:cNvPr>
          <p:cNvSpPr/>
          <p:nvPr/>
        </p:nvSpPr>
        <p:spPr>
          <a:xfrm>
            <a:off x="0" y="-197497"/>
            <a:ext cx="43891196" cy="50503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395"/>
          </a:p>
        </p:txBody>
      </p:sp>
      <p:sp>
        <p:nvSpPr>
          <p:cNvPr id="5" name="Rectangle 4">
            <a:extLst>
              <a:ext uri="{FF2B5EF4-FFF2-40B4-BE49-F238E27FC236}">
                <a16:creationId xmlns:a16="http://schemas.microsoft.com/office/drawing/2014/main" id="{C2811BD2-1B96-8F68-6ECA-6157691C783C}"/>
              </a:ext>
            </a:extLst>
          </p:cNvPr>
          <p:cNvSpPr/>
          <p:nvPr/>
        </p:nvSpPr>
        <p:spPr>
          <a:xfrm>
            <a:off x="106680" y="4977419"/>
            <a:ext cx="12596541" cy="12233845"/>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extLst>
              <a:ext uri="{FF2B5EF4-FFF2-40B4-BE49-F238E27FC236}">
                <a16:creationId xmlns:a16="http://schemas.microsoft.com/office/drawing/2014/main" id="{36461D48-E23A-4F5D-A90B-1B152BE7B0AB}"/>
              </a:ext>
            </a:extLst>
          </p:cNvPr>
          <p:cNvSpPr/>
          <p:nvPr/>
        </p:nvSpPr>
        <p:spPr>
          <a:xfrm>
            <a:off x="196976" y="17533283"/>
            <a:ext cx="12561909" cy="14912099"/>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extLst>
              <a:ext uri="{FF2B5EF4-FFF2-40B4-BE49-F238E27FC236}">
                <a16:creationId xmlns:a16="http://schemas.microsoft.com/office/drawing/2014/main" id="{B00BDBF2-CD97-48CB-BDAD-9E1D4C994629}"/>
              </a:ext>
            </a:extLst>
          </p:cNvPr>
          <p:cNvSpPr/>
          <p:nvPr/>
        </p:nvSpPr>
        <p:spPr>
          <a:xfrm>
            <a:off x="13008183" y="4977419"/>
            <a:ext cx="16706928" cy="2081753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0CE02E3-9F08-14A8-7F4A-C68C4D162E0E}"/>
              </a:ext>
            </a:extLst>
          </p:cNvPr>
          <p:cNvSpPr/>
          <p:nvPr/>
        </p:nvSpPr>
        <p:spPr>
          <a:xfrm>
            <a:off x="30076928" y="4977419"/>
            <a:ext cx="13533120" cy="1384398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8244839-0EDD-4EA6-7C36-7093D32A7426}"/>
              </a:ext>
            </a:extLst>
          </p:cNvPr>
          <p:cNvSpPr/>
          <p:nvPr/>
        </p:nvSpPr>
        <p:spPr>
          <a:xfrm>
            <a:off x="30076928" y="19188449"/>
            <a:ext cx="13617296" cy="660650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6F3AE59-22FD-6EA4-9FF2-B1C7EC0EC3D7}"/>
              </a:ext>
            </a:extLst>
          </p:cNvPr>
          <p:cNvSpPr txBox="1"/>
          <p:nvPr/>
        </p:nvSpPr>
        <p:spPr>
          <a:xfrm>
            <a:off x="159340" y="5036568"/>
            <a:ext cx="7680960" cy="1323439"/>
          </a:xfrm>
          <a:prstGeom prst="rect">
            <a:avLst/>
          </a:prstGeom>
          <a:noFill/>
        </p:spPr>
        <p:txBody>
          <a:bodyPr wrap="square" rtlCol="0">
            <a:spAutoFit/>
          </a:bodyPr>
          <a:lstStyle/>
          <a:p>
            <a:r>
              <a:rPr lang="en-US" sz="8000" b="1" dirty="0">
                <a:latin typeface="Bell MT" panose="02020503060305020303" pitchFamily="18" charset="77"/>
              </a:rPr>
              <a:t>Introduction</a:t>
            </a:r>
          </a:p>
        </p:txBody>
      </p:sp>
      <p:sp>
        <p:nvSpPr>
          <p:cNvPr id="12" name="TextBox 11">
            <a:extLst>
              <a:ext uri="{FF2B5EF4-FFF2-40B4-BE49-F238E27FC236}">
                <a16:creationId xmlns:a16="http://schemas.microsoft.com/office/drawing/2014/main" id="{E6588016-4593-3B39-815A-5291987D321B}"/>
              </a:ext>
            </a:extLst>
          </p:cNvPr>
          <p:cNvSpPr txBox="1"/>
          <p:nvPr/>
        </p:nvSpPr>
        <p:spPr>
          <a:xfrm>
            <a:off x="281151" y="6174502"/>
            <a:ext cx="11809097" cy="9171742"/>
          </a:xfrm>
          <a:prstGeom prst="rect">
            <a:avLst/>
          </a:prstGeom>
          <a:noFill/>
        </p:spPr>
        <p:txBody>
          <a:bodyPr wrap="square" rtlCol="0">
            <a:spAutoFit/>
          </a:bodyPr>
          <a:lstStyle/>
          <a:p>
            <a:r>
              <a:rPr lang="en-US" sz="6000" dirty="0">
                <a:latin typeface="Bell MT" panose="02020503060305020303" pitchFamily="18" charset="77"/>
              </a:rPr>
              <a:t>Research Question</a:t>
            </a:r>
          </a:p>
          <a:p>
            <a:r>
              <a:rPr lang="en-US" sz="3500" dirty="0">
                <a:latin typeface="Bell MT" panose="02020503060305020303" pitchFamily="18" charset="77"/>
              </a:rPr>
              <a:t>Which geographical areas (Census tracts) and types of food establishments in Boston exhibit the highest frequency and severity of health code violations between 2006 and 2026? How can predictive modeling of these patterns inform inspection resource allocation and identify establishments with the highest potential for intervention and improvement?</a:t>
            </a:r>
          </a:p>
          <a:p>
            <a:endParaRPr lang="en-US" sz="3000" dirty="0">
              <a:latin typeface="Bell MT" panose="02020503060305020303" pitchFamily="18" charset="77"/>
            </a:endParaRPr>
          </a:p>
          <a:p>
            <a:r>
              <a:rPr lang="en-US" sz="6000" dirty="0">
                <a:latin typeface="Bell MT" panose="02020503060305020303" pitchFamily="18" charset="77"/>
              </a:rPr>
              <a:t>Background</a:t>
            </a:r>
          </a:p>
          <a:p>
            <a:r>
              <a:rPr lang="en-US" sz="3500" dirty="0">
                <a:latin typeface="Bell MT" panose="02020503060305020303" pitchFamily="18" charset="77"/>
              </a:rPr>
              <a:t>Observation suggests that health code violations are disproportionately clustered in certain Boston census tracts. Understanding these geographical disparities is critical for optimizing the city’s limited public health resource. </a:t>
            </a:r>
          </a:p>
          <a:p>
            <a:endParaRPr lang="en-US" sz="3000" dirty="0">
              <a:latin typeface="Bell MT" panose="02020503060305020303" pitchFamily="18" charset="77"/>
            </a:endParaRPr>
          </a:p>
          <a:p>
            <a:endParaRPr lang="en-US" sz="3000" dirty="0">
              <a:latin typeface="Bell MT" panose="02020503060305020303" pitchFamily="18" charset="77"/>
            </a:endParaRPr>
          </a:p>
          <a:p>
            <a:endParaRPr lang="en-US" sz="3000" dirty="0">
              <a:latin typeface="Bell MT" panose="02020503060305020303" pitchFamily="18" charset="77"/>
            </a:endParaRPr>
          </a:p>
        </p:txBody>
      </p:sp>
      <p:sp>
        <p:nvSpPr>
          <p:cNvPr id="13" name="TextBox 12">
            <a:extLst>
              <a:ext uri="{FF2B5EF4-FFF2-40B4-BE49-F238E27FC236}">
                <a16:creationId xmlns:a16="http://schemas.microsoft.com/office/drawing/2014/main" id="{A66813C1-A9F0-71F7-2212-22042E2A8EF4}"/>
              </a:ext>
            </a:extLst>
          </p:cNvPr>
          <p:cNvSpPr txBox="1"/>
          <p:nvPr/>
        </p:nvSpPr>
        <p:spPr>
          <a:xfrm>
            <a:off x="446273" y="17811389"/>
            <a:ext cx="11478854" cy="12942004"/>
          </a:xfrm>
          <a:prstGeom prst="rect">
            <a:avLst/>
          </a:prstGeom>
          <a:noFill/>
        </p:spPr>
        <p:txBody>
          <a:bodyPr wrap="square" rtlCol="0">
            <a:spAutoFit/>
          </a:bodyPr>
          <a:lstStyle/>
          <a:p>
            <a:r>
              <a:rPr lang="en-US" sz="8000" b="1" dirty="0">
                <a:latin typeface="Bell MT" panose="02020503060305020303" pitchFamily="18" charset="77"/>
              </a:rPr>
              <a:t>Data</a:t>
            </a:r>
          </a:p>
          <a:p>
            <a:r>
              <a:rPr lang="en-US" sz="6000" dirty="0">
                <a:latin typeface="Bell MT" panose="02020503060305020303" pitchFamily="18" charset="77"/>
              </a:rPr>
              <a:t>Sources</a:t>
            </a:r>
          </a:p>
          <a:p>
            <a:pPr marL="571500" indent="-571500">
              <a:buFontTx/>
              <a:buChar char="-"/>
            </a:pPr>
            <a:r>
              <a:rPr lang="en-US" sz="4500" dirty="0">
                <a:latin typeface="Bell MT" panose="02020503060305020303" pitchFamily="18" charset="77"/>
              </a:rPr>
              <a:t>Boston Food Inspection Data</a:t>
            </a:r>
          </a:p>
          <a:p>
            <a:pPr marL="571500" indent="-571500">
              <a:buFontTx/>
              <a:buChar char="-"/>
            </a:pPr>
            <a:r>
              <a:rPr lang="en-US" sz="4500" dirty="0">
                <a:latin typeface="Bell MT" panose="02020503060305020303" pitchFamily="18" charset="77"/>
              </a:rPr>
              <a:t>US Census Tract Data (TIGER/Line Shapefiles)</a:t>
            </a:r>
          </a:p>
          <a:p>
            <a:pPr marL="571500" indent="-571500">
              <a:buFontTx/>
              <a:buChar char="-"/>
            </a:pPr>
            <a:endParaRPr lang="en-US" sz="4000" dirty="0">
              <a:latin typeface="Bell MT" panose="02020503060305020303" pitchFamily="18" charset="77"/>
            </a:endParaRPr>
          </a:p>
          <a:p>
            <a:pPr marL="571500" indent="-571500">
              <a:buFontTx/>
              <a:buChar char="-"/>
            </a:pPr>
            <a:endParaRPr lang="en-US" sz="4000" dirty="0">
              <a:latin typeface="Bell MT" panose="02020503060305020303" pitchFamily="18" charset="77"/>
            </a:endParaRPr>
          </a:p>
          <a:p>
            <a:r>
              <a:rPr lang="en-US" sz="6000" dirty="0">
                <a:latin typeface="Bell MT" panose="02020503060305020303" pitchFamily="18" charset="77"/>
              </a:rPr>
              <a:t>Data Cleaning/Manipulation</a:t>
            </a:r>
          </a:p>
          <a:p>
            <a:pPr marL="685800" indent="-685800">
              <a:buFontTx/>
              <a:buChar char="-"/>
            </a:pPr>
            <a:r>
              <a:rPr lang="en-US" sz="4500" dirty="0">
                <a:latin typeface="Bell MT" panose="02020503060305020303" pitchFamily="18" charset="77"/>
              </a:rPr>
              <a:t>Missing ZIP or violation levels are excluded because they are marginal. Only included violation levels: *, **, ***. </a:t>
            </a:r>
          </a:p>
          <a:p>
            <a:pPr marL="685800" indent="-685800">
              <a:buFontTx/>
              <a:buChar char="-"/>
            </a:pPr>
            <a:r>
              <a:rPr lang="en-US" sz="4500" dirty="0">
                <a:latin typeface="Bell MT" panose="02020503060305020303" pitchFamily="18" charset="77"/>
              </a:rPr>
              <a:t>Created predictor variables: Month of inspection</a:t>
            </a:r>
          </a:p>
          <a:p>
            <a:pPr marL="685800" indent="-685800">
              <a:buFontTx/>
              <a:buChar char="-"/>
            </a:pPr>
            <a:r>
              <a:rPr lang="en-US" sz="4500" dirty="0">
                <a:latin typeface="Bell MT" panose="02020503060305020303" pitchFamily="18" charset="77"/>
              </a:rPr>
              <a:t>Standardized ZIP codes, merged inspection data with the TIGER/Line shapefiles at the Census Tract level</a:t>
            </a:r>
          </a:p>
          <a:p>
            <a:endParaRPr lang="en-US" sz="6000" dirty="0">
              <a:latin typeface="Bell MT" panose="02020503060305020303" pitchFamily="18" charset="77"/>
            </a:endParaRPr>
          </a:p>
        </p:txBody>
      </p:sp>
      <p:sp>
        <p:nvSpPr>
          <p:cNvPr id="14" name="Rectangle 13">
            <a:extLst>
              <a:ext uri="{FF2B5EF4-FFF2-40B4-BE49-F238E27FC236}">
                <a16:creationId xmlns:a16="http://schemas.microsoft.com/office/drawing/2014/main" id="{B60C0E7F-02EB-785B-2515-D5A3E2D743F4}"/>
              </a:ext>
            </a:extLst>
          </p:cNvPr>
          <p:cNvSpPr/>
          <p:nvPr/>
        </p:nvSpPr>
        <p:spPr>
          <a:xfrm>
            <a:off x="13075920" y="26114602"/>
            <a:ext cx="30618304" cy="6377803"/>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28EFACD-0A2D-19C9-14A0-8F1D6A46233D}"/>
              </a:ext>
            </a:extLst>
          </p:cNvPr>
          <p:cNvSpPr txBox="1"/>
          <p:nvPr/>
        </p:nvSpPr>
        <p:spPr>
          <a:xfrm>
            <a:off x="13292501" y="5017496"/>
            <a:ext cx="11582400" cy="1323439"/>
          </a:xfrm>
          <a:prstGeom prst="rect">
            <a:avLst/>
          </a:prstGeom>
          <a:noFill/>
        </p:spPr>
        <p:txBody>
          <a:bodyPr wrap="square" rtlCol="0">
            <a:spAutoFit/>
          </a:bodyPr>
          <a:lstStyle/>
          <a:p>
            <a:r>
              <a:rPr lang="en-US" sz="8000" b="1" dirty="0">
                <a:latin typeface="Bell MT" panose="02020503060305020303" pitchFamily="18" charset="77"/>
              </a:rPr>
              <a:t>Visualizations</a:t>
            </a:r>
          </a:p>
        </p:txBody>
      </p:sp>
      <p:sp>
        <p:nvSpPr>
          <p:cNvPr id="16" name="TextBox 15">
            <a:extLst>
              <a:ext uri="{FF2B5EF4-FFF2-40B4-BE49-F238E27FC236}">
                <a16:creationId xmlns:a16="http://schemas.microsoft.com/office/drawing/2014/main" id="{66D06AE4-354A-354F-3CBC-E7EDD4B75B70}"/>
              </a:ext>
            </a:extLst>
          </p:cNvPr>
          <p:cNvSpPr txBox="1"/>
          <p:nvPr/>
        </p:nvSpPr>
        <p:spPr>
          <a:xfrm>
            <a:off x="13709990" y="26286536"/>
            <a:ext cx="12750800" cy="1323439"/>
          </a:xfrm>
          <a:prstGeom prst="rect">
            <a:avLst/>
          </a:prstGeom>
          <a:noFill/>
        </p:spPr>
        <p:txBody>
          <a:bodyPr wrap="square" rtlCol="0">
            <a:spAutoFit/>
          </a:bodyPr>
          <a:lstStyle/>
          <a:p>
            <a:r>
              <a:rPr lang="en-US" sz="8000" b="1" dirty="0">
                <a:latin typeface="Bell MT" panose="02020503060305020303" pitchFamily="18" charset="77"/>
              </a:rPr>
              <a:t>Discussions and Limitations</a:t>
            </a:r>
          </a:p>
        </p:txBody>
      </p:sp>
      <p:sp>
        <p:nvSpPr>
          <p:cNvPr id="17" name="TextBox 16">
            <a:extLst>
              <a:ext uri="{FF2B5EF4-FFF2-40B4-BE49-F238E27FC236}">
                <a16:creationId xmlns:a16="http://schemas.microsoft.com/office/drawing/2014/main" id="{D5FDF258-61CF-AB36-31C5-4AD6B57FEAA7}"/>
              </a:ext>
            </a:extLst>
          </p:cNvPr>
          <p:cNvSpPr txBox="1"/>
          <p:nvPr/>
        </p:nvSpPr>
        <p:spPr>
          <a:xfrm>
            <a:off x="30076928" y="19326428"/>
            <a:ext cx="7269480" cy="1323439"/>
          </a:xfrm>
          <a:prstGeom prst="rect">
            <a:avLst/>
          </a:prstGeom>
          <a:noFill/>
        </p:spPr>
        <p:txBody>
          <a:bodyPr wrap="square" rtlCol="0">
            <a:spAutoFit/>
          </a:bodyPr>
          <a:lstStyle/>
          <a:p>
            <a:r>
              <a:rPr lang="en-US" sz="8000" b="1" dirty="0">
                <a:latin typeface="Bell MT" panose="02020503060305020303" pitchFamily="18" charset="77"/>
              </a:rPr>
              <a:t>Conclusions</a:t>
            </a:r>
          </a:p>
        </p:txBody>
      </p:sp>
      <p:sp>
        <p:nvSpPr>
          <p:cNvPr id="18" name="TextBox 17">
            <a:extLst>
              <a:ext uri="{FF2B5EF4-FFF2-40B4-BE49-F238E27FC236}">
                <a16:creationId xmlns:a16="http://schemas.microsoft.com/office/drawing/2014/main" id="{06200FD6-5BEA-4558-5B56-8EE93EEE34D8}"/>
              </a:ext>
            </a:extLst>
          </p:cNvPr>
          <p:cNvSpPr txBox="1"/>
          <p:nvPr/>
        </p:nvSpPr>
        <p:spPr>
          <a:xfrm>
            <a:off x="30181856" y="5007754"/>
            <a:ext cx="8636000" cy="2554545"/>
          </a:xfrm>
          <a:prstGeom prst="rect">
            <a:avLst/>
          </a:prstGeom>
          <a:noFill/>
        </p:spPr>
        <p:txBody>
          <a:bodyPr wrap="square" rtlCol="0">
            <a:spAutoFit/>
          </a:bodyPr>
          <a:lstStyle/>
          <a:p>
            <a:r>
              <a:rPr lang="en-US" sz="8000" b="1" dirty="0">
                <a:latin typeface="Bell MT" panose="02020503060305020303" pitchFamily="18" charset="77"/>
              </a:rPr>
              <a:t>Methods/Results</a:t>
            </a:r>
          </a:p>
          <a:p>
            <a:endParaRPr lang="en-US" sz="8000" dirty="0">
              <a:latin typeface="Bell MT" panose="02020503060305020303" pitchFamily="18" charset="77"/>
            </a:endParaRPr>
          </a:p>
        </p:txBody>
      </p:sp>
      <p:pic>
        <p:nvPicPr>
          <p:cNvPr id="21" name="Picture 20">
            <a:extLst>
              <a:ext uri="{FF2B5EF4-FFF2-40B4-BE49-F238E27FC236}">
                <a16:creationId xmlns:a16="http://schemas.microsoft.com/office/drawing/2014/main" id="{F056F760-52F7-6E4C-B5F4-BF8D9935DF59}"/>
              </a:ext>
            </a:extLst>
          </p:cNvPr>
          <p:cNvPicPr>
            <a:picLocks noChangeAspect="1"/>
          </p:cNvPicPr>
          <p:nvPr/>
        </p:nvPicPr>
        <p:blipFill>
          <a:blip r:embed="rId2"/>
          <a:stretch>
            <a:fillRect/>
          </a:stretch>
        </p:blipFill>
        <p:spPr>
          <a:xfrm>
            <a:off x="1139228" y="501744"/>
            <a:ext cx="5688313" cy="3651897"/>
          </a:xfrm>
          <a:prstGeom prst="rect">
            <a:avLst/>
          </a:prstGeom>
        </p:spPr>
      </p:pic>
      <p:sp>
        <p:nvSpPr>
          <p:cNvPr id="22" name="TextBox 21">
            <a:extLst>
              <a:ext uri="{FF2B5EF4-FFF2-40B4-BE49-F238E27FC236}">
                <a16:creationId xmlns:a16="http://schemas.microsoft.com/office/drawing/2014/main" id="{7434848B-4C05-7328-9B59-F7DB67D78011}"/>
              </a:ext>
            </a:extLst>
          </p:cNvPr>
          <p:cNvSpPr txBox="1"/>
          <p:nvPr/>
        </p:nvSpPr>
        <p:spPr>
          <a:xfrm>
            <a:off x="13655083" y="3057678"/>
            <a:ext cx="20226528" cy="1169551"/>
          </a:xfrm>
          <a:prstGeom prst="rect">
            <a:avLst/>
          </a:prstGeom>
          <a:noFill/>
        </p:spPr>
        <p:txBody>
          <a:bodyPr wrap="square" rtlCol="0">
            <a:spAutoFit/>
          </a:bodyPr>
          <a:lstStyle/>
          <a:p>
            <a:r>
              <a:rPr lang="en-US" sz="7000" dirty="0">
                <a:solidFill>
                  <a:schemeClr val="bg1"/>
                </a:solidFill>
                <a:latin typeface="Bell MT" panose="02020503060305020303" pitchFamily="18" charset="77"/>
              </a:rPr>
              <a:t>Sarah Yeh ’27 Data Science Major Capstone</a:t>
            </a:r>
          </a:p>
        </p:txBody>
      </p:sp>
      <p:sp>
        <p:nvSpPr>
          <p:cNvPr id="23" name="TextBox 22">
            <a:extLst>
              <a:ext uri="{FF2B5EF4-FFF2-40B4-BE49-F238E27FC236}">
                <a16:creationId xmlns:a16="http://schemas.microsoft.com/office/drawing/2014/main" id="{F5499B94-37AA-0D38-D5E2-B825AA1A5B9F}"/>
              </a:ext>
            </a:extLst>
          </p:cNvPr>
          <p:cNvSpPr txBox="1"/>
          <p:nvPr/>
        </p:nvSpPr>
        <p:spPr>
          <a:xfrm>
            <a:off x="9768838" y="378597"/>
            <a:ext cx="24353520" cy="2400657"/>
          </a:xfrm>
          <a:prstGeom prst="rect">
            <a:avLst/>
          </a:prstGeom>
          <a:noFill/>
        </p:spPr>
        <p:txBody>
          <a:bodyPr wrap="square" rtlCol="0">
            <a:spAutoFit/>
          </a:bodyPr>
          <a:lstStyle/>
          <a:p>
            <a:pPr algn="ctr"/>
            <a:r>
              <a:rPr lang="en-US" sz="7500" b="1" dirty="0">
                <a:solidFill>
                  <a:schemeClr val="bg1"/>
                </a:solidFill>
                <a:latin typeface="Bell MT" panose="02020503060305020303" pitchFamily="18" charset="77"/>
              </a:rPr>
              <a:t>Utilizing Spatial Modeling and Socioeconomic Indicators to Optimize Public Health Resource Allocation in Boston</a:t>
            </a:r>
          </a:p>
        </p:txBody>
      </p:sp>
      <p:pic>
        <p:nvPicPr>
          <p:cNvPr id="25" name="Picture 24">
            <a:extLst>
              <a:ext uri="{FF2B5EF4-FFF2-40B4-BE49-F238E27FC236}">
                <a16:creationId xmlns:a16="http://schemas.microsoft.com/office/drawing/2014/main" id="{CDB6FCF1-6171-BF78-8ACA-2FBCFAB978A1}"/>
              </a:ext>
            </a:extLst>
          </p:cNvPr>
          <p:cNvPicPr>
            <a:picLocks noChangeAspect="1"/>
          </p:cNvPicPr>
          <p:nvPr/>
        </p:nvPicPr>
        <p:blipFill>
          <a:blip r:embed="rId3"/>
          <a:stretch>
            <a:fillRect/>
          </a:stretch>
        </p:blipFill>
        <p:spPr>
          <a:xfrm>
            <a:off x="13292501" y="6285027"/>
            <a:ext cx="7611082" cy="4566650"/>
          </a:xfrm>
          <a:prstGeom prst="rect">
            <a:avLst/>
          </a:prstGeom>
        </p:spPr>
      </p:pic>
      <p:sp>
        <p:nvSpPr>
          <p:cNvPr id="34" name="TextBox 33">
            <a:extLst>
              <a:ext uri="{FF2B5EF4-FFF2-40B4-BE49-F238E27FC236}">
                <a16:creationId xmlns:a16="http://schemas.microsoft.com/office/drawing/2014/main" id="{C715C41B-100C-C4D1-73FE-FFC24F9756DB}"/>
              </a:ext>
            </a:extLst>
          </p:cNvPr>
          <p:cNvSpPr txBox="1"/>
          <p:nvPr/>
        </p:nvSpPr>
        <p:spPr>
          <a:xfrm>
            <a:off x="30181855" y="20649867"/>
            <a:ext cx="13533120" cy="4478149"/>
          </a:xfrm>
          <a:prstGeom prst="rect">
            <a:avLst/>
          </a:prstGeom>
          <a:noFill/>
        </p:spPr>
        <p:txBody>
          <a:bodyPr wrap="square" rtlCol="0">
            <a:spAutoFit/>
          </a:bodyPr>
          <a:lstStyle/>
          <a:p>
            <a:r>
              <a:rPr lang="en-US" sz="3500" b="1" dirty="0">
                <a:latin typeface="Bell MT" panose="02020503060305020303" pitchFamily="18" charset="77"/>
              </a:rPr>
              <a:t>High-Risk Areas</a:t>
            </a:r>
            <a:r>
              <a:rPr lang="en-US" sz="3500" dirty="0">
                <a:latin typeface="Bell MT" panose="02020503060305020303" pitchFamily="18" charset="77"/>
              </a:rPr>
              <a:t>: Although income alone isn’t the primary reason for higher violations in restaurants, the Income-Pest Interaction proves that lower-income tracts are vulnerable to structural building issues that multiply the impact of pests. </a:t>
            </a:r>
          </a:p>
          <a:p>
            <a:r>
              <a:rPr lang="en-US" sz="3500" b="1" dirty="0">
                <a:latin typeface="Bell MT" panose="02020503060305020303" pitchFamily="18" charset="77"/>
              </a:rPr>
              <a:t>Establishment types</a:t>
            </a:r>
            <a:r>
              <a:rPr lang="en-US" sz="3500" dirty="0">
                <a:latin typeface="Bell MT" panose="02020503060305020303" pitchFamily="18" charset="77"/>
              </a:rPr>
              <a:t>: Independent restaurants are significantly higher risk than corporate chains to inspection violations. </a:t>
            </a:r>
          </a:p>
          <a:p>
            <a:endParaRPr lang="en-US" sz="2500" dirty="0">
              <a:latin typeface="Bell MT" panose="02020503060305020303" pitchFamily="18" charset="77"/>
            </a:endParaRPr>
          </a:p>
          <a:p>
            <a:endParaRPr lang="en-US" sz="2500" dirty="0">
              <a:latin typeface="Bell MT" panose="02020503060305020303" pitchFamily="18" charset="77"/>
            </a:endParaRPr>
          </a:p>
          <a:p>
            <a:endParaRPr lang="en-US" sz="2500" dirty="0">
              <a:latin typeface="Bell MT" panose="02020503060305020303" pitchFamily="18" charset="77"/>
            </a:endParaRPr>
          </a:p>
        </p:txBody>
      </p:sp>
      <p:sp>
        <p:nvSpPr>
          <p:cNvPr id="35" name="TextBox 34">
            <a:extLst>
              <a:ext uri="{FF2B5EF4-FFF2-40B4-BE49-F238E27FC236}">
                <a16:creationId xmlns:a16="http://schemas.microsoft.com/office/drawing/2014/main" id="{3F171D9F-ABAC-298A-EE38-AC30A5E8536D}"/>
              </a:ext>
            </a:extLst>
          </p:cNvPr>
          <p:cNvSpPr txBox="1"/>
          <p:nvPr/>
        </p:nvSpPr>
        <p:spPr>
          <a:xfrm>
            <a:off x="13709989" y="27358624"/>
            <a:ext cx="29734937" cy="4939814"/>
          </a:xfrm>
          <a:prstGeom prst="rect">
            <a:avLst/>
          </a:prstGeom>
          <a:noFill/>
        </p:spPr>
        <p:txBody>
          <a:bodyPr wrap="square" rtlCol="0">
            <a:spAutoFit/>
          </a:bodyPr>
          <a:lstStyle/>
          <a:p>
            <a:r>
              <a:rPr lang="en-US" sz="3500" b="1" dirty="0">
                <a:latin typeface="Bell MT" panose="02020503060305020303" pitchFamily="18" charset="77"/>
              </a:rPr>
              <a:t>Discussion</a:t>
            </a:r>
          </a:p>
          <a:p>
            <a:r>
              <a:rPr lang="en-US" sz="3500" dirty="0">
                <a:latin typeface="Bell MT" panose="02020503060305020303" pitchFamily="18" charset="77"/>
              </a:rPr>
              <a:t>Operational flags (Debris/Hygiene) remain the strongest predictors, increasing the risk of violation failures by ~300%. This proves that restaurant management is the main reason for health violations, regardless of neighborhood. The Income-Pest Interaction term shows that poverty acts as a risk multiplier. Thus, in lower-income tracts, structural barriers may result in more difficult restaurant management and health maintenance. </a:t>
            </a:r>
          </a:p>
          <a:p>
            <a:r>
              <a:rPr lang="en-US" sz="3500" b="1" dirty="0">
                <a:latin typeface="Bell MT" panose="02020503060305020303" pitchFamily="18" charset="77"/>
              </a:rPr>
              <a:t>Limitations</a:t>
            </a:r>
          </a:p>
          <a:p>
            <a:r>
              <a:rPr lang="en-US" sz="3500" dirty="0">
                <a:latin typeface="Bell MT" panose="02020503060305020303" pitchFamily="18" charset="77"/>
              </a:rPr>
              <a:t>Some limitations may include a reporter and observer bias as there is a potential for higher complain rates in wealthy tracts and increased inspections in lower-income areas. Additionally, the dataset lacks variables such as staff turnover rates, which may contribute to the higher failure rates in inspections. The analysis underwent some loss of data when data cleaning and merging Census tract data with the inspection data, which may result in an under representative sample of volatile neighborhoods. </a:t>
            </a:r>
          </a:p>
        </p:txBody>
      </p:sp>
      <p:sp>
        <p:nvSpPr>
          <p:cNvPr id="36" name="TextBox 35">
            <a:extLst>
              <a:ext uri="{FF2B5EF4-FFF2-40B4-BE49-F238E27FC236}">
                <a16:creationId xmlns:a16="http://schemas.microsoft.com/office/drawing/2014/main" id="{FD6C6B45-1102-08E2-6A86-C0723A020D14}"/>
              </a:ext>
            </a:extLst>
          </p:cNvPr>
          <p:cNvSpPr txBox="1"/>
          <p:nvPr/>
        </p:nvSpPr>
        <p:spPr>
          <a:xfrm>
            <a:off x="30181855" y="6174502"/>
            <a:ext cx="11971099" cy="10787569"/>
          </a:xfrm>
          <a:prstGeom prst="rect">
            <a:avLst/>
          </a:prstGeom>
          <a:noFill/>
        </p:spPr>
        <p:txBody>
          <a:bodyPr wrap="square" rtlCol="0">
            <a:spAutoFit/>
          </a:bodyPr>
          <a:lstStyle/>
          <a:p>
            <a:r>
              <a:rPr lang="en-US" sz="6000" dirty="0">
                <a:latin typeface="Bell MT" panose="02020503060305020303" pitchFamily="18" charset="77"/>
              </a:rPr>
              <a:t>Method</a:t>
            </a:r>
          </a:p>
          <a:p>
            <a:pPr marL="457200" indent="-457200">
              <a:buFontTx/>
              <a:buChar char="-"/>
            </a:pPr>
            <a:r>
              <a:rPr lang="en-US" sz="3500" dirty="0">
                <a:latin typeface="Bell MT" panose="02020503060305020303" pitchFamily="18" charset="77"/>
              </a:rPr>
              <a:t>Data Integration: Merged 20 years of Boston Food Inspection data with Census Tract shapefiles using a spatial join. Missing spatial data (&lt;5%) was excluded. </a:t>
            </a:r>
          </a:p>
          <a:p>
            <a:pPr marL="457200" indent="-457200">
              <a:buFontTx/>
              <a:buChar char="-"/>
            </a:pPr>
            <a:r>
              <a:rPr lang="en-US" sz="3500" dirty="0">
                <a:latin typeface="Bell MT" panose="02020503060305020303" pitchFamily="18" charset="77"/>
              </a:rPr>
              <a:t>Feature Engineering: violation types, </a:t>
            </a:r>
            <a:r>
              <a:rPr lang="en-US" sz="3500" dirty="0" err="1">
                <a:latin typeface="Bell MT" panose="02020503060305020303" pitchFamily="18" charset="77"/>
              </a:rPr>
              <a:t>is_chain</a:t>
            </a:r>
            <a:r>
              <a:rPr lang="en-US" sz="3500" dirty="0">
                <a:latin typeface="Bell MT" panose="02020503060305020303" pitchFamily="18" charset="77"/>
              </a:rPr>
              <a:t>, </a:t>
            </a:r>
            <a:r>
              <a:rPr lang="en-US" sz="3500">
                <a:latin typeface="Bell MT" panose="02020503060305020303" pitchFamily="18" charset="77"/>
              </a:rPr>
              <a:t>income-pest interaction. </a:t>
            </a:r>
            <a:endParaRPr lang="en-US" sz="3500" dirty="0">
              <a:latin typeface="Bell MT" panose="02020503060305020303" pitchFamily="18" charset="77"/>
            </a:endParaRPr>
          </a:p>
          <a:p>
            <a:pPr marL="457200" indent="-457200">
              <a:buFontTx/>
              <a:buChar char="-"/>
            </a:pPr>
            <a:r>
              <a:rPr lang="en-US" sz="3500" dirty="0">
                <a:latin typeface="Bell MT" panose="02020503060305020303" pitchFamily="18" charset="77"/>
              </a:rPr>
              <a:t>Model Specification: Utilized a Negative Bin Generalized Linear Model. </a:t>
            </a:r>
          </a:p>
          <a:p>
            <a:pPr marL="914400" lvl="1" indent="-457200">
              <a:buFontTx/>
              <a:buChar char="-"/>
            </a:pPr>
            <a:r>
              <a:rPr lang="en-US" sz="3500" dirty="0">
                <a:latin typeface="Bell MT" panose="02020503060305020303" pitchFamily="18" charset="77"/>
              </a:rPr>
              <a:t>Train/Test split: Model was trained on data from 2006-2024 and validated using modern data from 2025-2026. </a:t>
            </a:r>
          </a:p>
          <a:p>
            <a:pPr lvl="1"/>
            <a:endParaRPr lang="en-US" sz="3500" dirty="0">
              <a:latin typeface="Bell MT" panose="02020503060305020303" pitchFamily="18" charset="77"/>
            </a:endParaRPr>
          </a:p>
          <a:p>
            <a:pPr lvl="1"/>
            <a:endParaRPr lang="en-US" sz="3500" dirty="0">
              <a:latin typeface="Bell MT" panose="02020503060305020303" pitchFamily="18" charset="77"/>
            </a:endParaRPr>
          </a:p>
          <a:p>
            <a:r>
              <a:rPr lang="en-US" sz="6000" dirty="0">
                <a:latin typeface="Bell MT" panose="02020503060305020303" pitchFamily="18" charset="77"/>
              </a:rPr>
              <a:t>Results</a:t>
            </a:r>
          </a:p>
          <a:p>
            <a:pPr marL="457200" indent="-457200">
              <a:buFontTx/>
              <a:buChar char="-"/>
            </a:pPr>
            <a:r>
              <a:rPr lang="en-US" sz="3500" dirty="0">
                <a:latin typeface="Bell MT" panose="02020503060305020303" pitchFamily="18" charset="77"/>
              </a:rPr>
              <a:t>Training Fit: The model achieved a Pseudo R^2 of 0.71. </a:t>
            </a:r>
          </a:p>
          <a:p>
            <a:pPr marL="457200" indent="-457200">
              <a:buFontTx/>
              <a:buChar char="-"/>
            </a:pPr>
            <a:r>
              <a:rPr lang="en-US" sz="3500" dirty="0">
                <a:latin typeface="Bell MT" panose="02020503060305020303" pitchFamily="18" charset="77"/>
              </a:rPr>
              <a:t>Predictive Validity: On the 2025-2026 test set, the model maintained an R^2 of 0.55.</a:t>
            </a:r>
          </a:p>
          <a:p>
            <a:endParaRPr lang="en-US" sz="3500" dirty="0">
              <a:latin typeface="Bell MT" panose="02020503060305020303" pitchFamily="18" charset="77"/>
            </a:endParaRPr>
          </a:p>
          <a:p>
            <a:endParaRPr lang="en-US" sz="2500" dirty="0">
              <a:latin typeface="Bell MT" panose="02020503060305020303" pitchFamily="18" charset="77"/>
            </a:endParaRPr>
          </a:p>
          <a:p>
            <a:endParaRPr lang="en-US" sz="2500" dirty="0">
              <a:latin typeface="Bell MT" panose="02020503060305020303" pitchFamily="18" charset="77"/>
            </a:endParaRPr>
          </a:p>
        </p:txBody>
      </p:sp>
      <p:pic>
        <p:nvPicPr>
          <p:cNvPr id="38" name="Picture 37">
            <a:extLst>
              <a:ext uri="{FF2B5EF4-FFF2-40B4-BE49-F238E27FC236}">
                <a16:creationId xmlns:a16="http://schemas.microsoft.com/office/drawing/2014/main" id="{A2550EAB-34B8-6EEA-F42C-07ACEB17503C}"/>
              </a:ext>
            </a:extLst>
          </p:cNvPr>
          <p:cNvPicPr>
            <a:picLocks noChangeAspect="1"/>
          </p:cNvPicPr>
          <p:nvPr/>
        </p:nvPicPr>
        <p:blipFill>
          <a:blip r:embed="rId4"/>
          <a:stretch>
            <a:fillRect/>
          </a:stretch>
        </p:blipFill>
        <p:spPr>
          <a:xfrm>
            <a:off x="13313966" y="19347911"/>
            <a:ext cx="7945090" cy="5941302"/>
          </a:xfrm>
          <a:prstGeom prst="rect">
            <a:avLst/>
          </a:prstGeom>
        </p:spPr>
      </p:pic>
      <p:pic>
        <p:nvPicPr>
          <p:cNvPr id="42" name="Picture 41">
            <a:extLst>
              <a:ext uri="{FF2B5EF4-FFF2-40B4-BE49-F238E27FC236}">
                <a16:creationId xmlns:a16="http://schemas.microsoft.com/office/drawing/2014/main" id="{EAD6286B-583F-3F24-1DE1-E902B3814A40}"/>
              </a:ext>
            </a:extLst>
          </p:cNvPr>
          <p:cNvPicPr>
            <a:picLocks noChangeAspect="1"/>
          </p:cNvPicPr>
          <p:nvPr/>
        </p:nvPicPr>
        <p:blipFill>
          <a:blip r:embed="rId5"/>
          <a:stretch>
            <a:fillRect/>
          </a:stretch>
        </p:blipFill>
        <p:spPr>
          <a:xfrm>
            <a:off x="13292501" y="11091596"/>
            <a:ext cx="7772400" cy="3855110"/>
          </a:xfrm>
          <a:prstGeom prst="rect">
            <a:avLst/>
          </a:prstGeom>
        </p:spPr>
      </p:pic>
      <p:pic>
        <p:nvPicPr>
          <p:cNvPr id="44" name="Picture 43">
            <a:extLst>
              <a:ext uri="{FF2B5EF4-FFF2-40B4-BE49-F238E27FC236}">
                <a16:creationId xmlns:a16="http://schemas.microsoft.com/office/drawing/2014/main" id="{1565E3DE-0705-D5B9-F113-177B7BD7A2F8}"/>
              </a:ext>
            </a:extLst>
          </p:cNvPr>
          <p:cNvPicPr>
            <a:picLocks noChangeAspect="1"/>
          </p:cNvPicPr>
          <p:nvPr/>
        </p:nvPicPr>
        <p:blipFill>
          <a:blip r:embed="rId6"/>
          <a:stretch>
            <a:fillRect/>
          </a:stretch>
        </p:blipFill>
        <p:spPr>
          <a:xfrm>
            <a:off x="21355919" y="6200707"/>
            <a:ext cx="6583415" cy="4650970"/>
          </a:xfrm>
          <a:prstGeom prst="rect">
            <a:avLst/>
          </a:prstGeom>
        </p:spPr>
      </p:pic>
    </p:spTree>
    <p:extLst>
      <p:ext uri="{BB962C8B-B14F-4D97-AF65-F5344CB8AC3E}">
        <p14:creationId xmlns:p14="http://schemas.microsoft.com/office/powerpoint/2010/main" val="8807936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3333</TotalTime>
  <Words>496</Words>
  <Application>Microsoft Macintosh PowerPoint</Application>
  <PresentationFormat>Custom</PresentationFormat>
  <Paragraphs>41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Bell MT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Yeh</dc:creator>
  <cp:lastModifiedBy>Sarah Yeh</cp:lastModifiedBy>
  <cp:revision>32</cp:revision>
  <dcterms:created xsi:type="dcterms:W3CDTF">2026-04-13T14:14:23Z</dcterms:created>
  <dcterms:modified xsi:type="dcterms:W3CDTF">2026-04-15T21:48:15Z</dcterms:modified>
</cp:coreProperties>
</file>